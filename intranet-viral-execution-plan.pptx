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3657600"/>
            <a:ext cx="2377440" cy="237744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内网分享裂变活动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9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落地执行方案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基于小红书 / 人人都是产品经理真实运营案例复盘优化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3108960" cy="18288"/>
          </a:xfrm>
          <a:prstGeom prst="rect">
            <a:avLst/>
          </a:prstGeom>
          <a:solidFill>
            <a:srgbClr val="FFD9D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9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+ 准备 · 7天执行节奏 · 防刷规则 · 数据监控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真实运营案例参考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三篇可校验的公开复盘，提炼可直接复用的落地经验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67004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2670048" cy="8229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25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笔记侠「知识宝箱」裂变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人人都是产品经理 · 2019-05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20848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裂变率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2万+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2天涨粉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285292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新粉留存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2395728" cy="1371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83280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22000+人参与，启动流量仅来自平均阅读3k的推文</a:t>
            </a:r>
            <a:endParaRPr lang="en-US" sz="850" dirty="0"/>
          </a:p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核心：触发用户「社交关系链」而非单纯利益刺激</a:t>
            </a:r>
            <a:endParaRPr lang="en-US" sz="850" dirty="0"/>
          </a:p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阶梯任务（3人/8人/排行榜）+ 每步即时反馈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18688" y="1170432"/>
            <a:ext cx="267004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170432"/>
            <a:ext cx="2670048" cy="8229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1325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工具产品游戏化邀请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17556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人人都是产品经理 · 貓力 · 2019-03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0848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42816" y="20848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现金预算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24688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+5~7%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42816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新增留存提升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2852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42816" y="285292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新增不下滑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3310128"/>
            <a:ext cx="2395728" cy="1371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3383280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「去邀请重气息」：包装成限时福利，化邀请为无形</a:t>
            </a:r>
            <a:endParaRPr lang="en-US" sz="850" dirty="0"/>
          </a:p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用产品核心价值（会员）做奖励，替代现金红包</a:t>
            </a:r>
            <a:endParaRPr lang="en-US" sz="850" dirty="0"/>
          </a:p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成本核算：15元会员权益换3个新增，远低于行业10-20元/人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71616" y="1170432"/>
            <a:ext cx="267004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1170432"/>
            <a:ext cx="2670048" cy="8229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1325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「用户裂变」产品设计方法论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08776" y="17556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 · 产品妹纸Euphemia · 2024-09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08776" y="20848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社交货币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95744" y="20848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分享动机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24688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95744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获客主线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08776" y="2852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95744" y="285292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双向激励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08776" y="3310128"/>
            <a:ext cx="2395728" cy="1371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2" name="Text 40"/>
          <p:cNvSpPr/>
          <p:nvPr/>
        </p:nvSpPr>
        <p:spPr>
          <a:xfrm>
            <a:off x="6208776" y="3383280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裂变设计须同时满足老用户动机与新用户价值</a:t>
            </a:r>
            <a:endParaRPr lang="en-US" sz="850" dirty="0"/>
          </a:p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分享行为要成为用户「社交货币」，而非人情负担</a:t>
            </a:r>
            <a:endParaRPr lang="en-US" sz="850" dirty="0"/>
          </a:p>
          <a:p>
            <a:pPr marL="101600" indent="-101600"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奖励即时到账，形成参与-分享-激励的正循环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案例洞察 → 五大关键优化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把真实案例踩过的坑，转化为本活动的设计动作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377440" cy="3657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案例洞察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207008"/>
            <a:ext cx="585216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2070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本活动落地动作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2377440" cy="530352"/>
          </a:xfrm>
          <a:prstGeom prst="rect">
            <a:avLst/>
          </a:prstGeom>
          <a:solidFill>
            <a:srgbClr val="FDF0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6642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去邀请重气息，弱化推销感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1664208"/>
            <a:ext cx="5852160" cy="530352"/>
          </a:xfrm>
          <a:prstGeom prst="rect">
            <a:avLst/>
          </a:prstGeom>
          <a:solidFill>
            <a:srgbClr val="FDF0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1664208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活动包装为「限时内测福利」，分享文案突出「我用了不错，分享给你」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23774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2860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第一阶任务门槛要低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4640" y="2286000"/>
            <a:ext cx="58521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71800" y="228600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邀请1人激活即得奖励，让每位参与者不空手而归，先建立信任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2377440" cy="530352"/>
          </a:xfrm>
          <a:prstGeom prst="rect">
            <a:avLst/>
          </a:prstGeom>
          <a:solidFill>
            <a:srgbClr val="FDF0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290779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每一步操作要有及时反馈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2907792"/>
            <a:ext cx="5852160" cy="530352"/>
          </a:xfrm>
          <a:prstGeom prst="rect">
            <a:avLst/>
          </a:prstGeom>
          <a:solidFill>
            <a:srgbClr val="FDF0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71800" y="2907792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分享/点击/下载/激活全流程自动推送话术：强引导 + 稳情绪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23774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352958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防刷细节决定数据真实性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34640" y="3529584"/>
            <a:ext cx="58521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71800" y="3529584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仅新用户激活计数、卸载扣除奖励、重装恢复，活动后数据可真实盘点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51376"/>
            <a:ext cx="2377440" cy="530352"/>
          </a:xfrm>
          <a:prstGeom prst="rect">
            <a:avLst/>
          </a:prstGeom>
          <a:solidFill>
            <a:srgbClr val="FDF0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41513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奖励用产品核心价值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34640" y="4151376"/>
            <a:ext cx="5852160" cy="530352"/>
          </a:xfrm>
          <a:prstGeom prst="rect">
            <a:avLst/>
          </a:prstGeom>
          <a:solidFill>
            <a:srgbClr val="FDF0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71800" y="4151376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高级功能时长/专属权益替代现金，零预算可控，且筛选出真实需求用户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优化后的活动机制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对内包装：限时内测福利，不是「帮我邀请」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99000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活动口号：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「抢先体验高级权益，邀请同事一起用，双方都有奖」——弱化任务感，突出福利感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个人阶梯奖励（驱动首次分享）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941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941832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邀1人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+10积分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3246120"/>
            <a:ext cx="832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门槛最低，人人有奖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90472" y="2468880"/>
            <a:ext cx="941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90472" y="2468880"/>
            <a:ext cx="941832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90472" y="2606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邀3人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90472" y="290779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累计30分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45336" y="3246120"/>
            <a:ext cx="832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小额进阶，保持动力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23744" y="2468880"/>
            <a:ext cx="941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23744" y="2468880"/>
            <a:ext cx="941832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2" name="Text 20"/>
          <p:cNvSpPr/>
          <p:nvPr/>
        </p:nvSpPr>
        <p:spPr>
          <a:xfrm>
            <a:off x="2523744" y="2606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邀5人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23744" y="290779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+实物奖品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78608" y="3246120"/>
            <a:ext cx="832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制造惊喜与晒单点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557016" y="2468880"/>
            <a:ext cx="941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57016" y="2468880"/>
            <a:ext cx="941832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7" name="Text 25"/>
          <p:cNvSpPr/>
          <p:nvPr/>
        </p:nvSpPr>
        <p:spPr>
          <a:xfrm>
            <a:off x="3557016" y="2606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邀10人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57016" y="290779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限定徽章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11880" y="3246120"/>
            <a:ext cx="832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身份荣誉，社交货币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积分兑换：咖啡券 / 午餐补贴 / 定制周边 / 调休半天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团队PK榜 + 被邀请人闭环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24688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26060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团队PK榜：</a:t>
            </a:r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部门自动归队，每日播报Top3；设「逆袭奖」让尾部团队也有盼头，只激励不惩罚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被邀请人即时反馈：</a:t>
            </a:r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激活即弹窗「你是XX邀请来的」+ 新人礼包 + 自己的邀请链接，形成二次裂变闭环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落地准备清单 · 技术侧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上线前必须就绪的4个技术模块，缺一项活动就不能跑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C700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邀请关系链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每位用户生成唯一邀请码/链接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关系归因明确：点击-下载-激活全程携带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绑定工号，支持追溯与防刷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417320"/>
            <a:ext cx="457200" cy="457200"/>
          </a:xfrm>
          <a:prstGeom prst="ellipse">
            <a:avLst/>
          </a:prstGeom>
          <a:solidFill>
            <a:srgbClr val="C7000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激活判定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51760" y="2395728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首次登录即激活，规则提前公示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设备指纹 + 内网工号双重绑定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同设备多账号只计1次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rgbClr val="C700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数据埋点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2395728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6个关键事件：分享/打开/下载/完成/激活/发奖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链接带UTM参数区分渠道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支持活动后精确盘点拉新数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417320"/>
            <a:ext cx="457200" cy="457200"/>
          </a:xfrm>
          <a:prstGeom prst="ellipse">
            <a:avLst/>
          </a:prstGeom>
          <a:solidFill>
            <a:srgbClr val="C7000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即时反馈系统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49440" y="2395728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每步操作自动推送话术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话术双重作用：强引导 + 稳情绪</a:t>
            </a:r>
            <a:endParaRPr lang="en-US" sz="900" dirty="0"/>
          </a:p>
          <a:p>
            <a:pPr marL="101600" indent="-101600"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进度条实时可见，如同游戏任务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落地准备清单 · 规则与物料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文档先行：规则写清楚，物料备到位，跨部门打招呼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2011680" cy="41148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规则文档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激活定义：首次登录 vs 完成首个任务，提前公示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奖励发放时间与到账周期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防刷条款与争议处理流程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活动总积分上限（预算封顶）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34440"/>
            <a:ext cx="20116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物料清单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分享卡片文案 + 视觉（见第7页5要素）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内网公告 / 悬念海报 / 每日战报模板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领奖指引与积分商城清单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活动结束话术（防流失关键）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2011680" cy="41148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权益备货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新人礼包内容确认（高级功能7天体验等）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实物奖品备货量 = 目标激活数 x 15%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积分商城兑换项与库存核对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兑换/发放责任人指定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234440"/>
            <a:ext cx="2011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234440"/>
            <a:ext cx="20116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49440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IT：分享链接加白名单，防风控拦截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法务/信息安全：规则与数据合规审核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管理层：领导带头分享做首批种子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内网IM运营：启动日全员推送排期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分享物料设计：让卡片成为「社交货币」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来自815%裂变率案例的海报5要素，逐项对照设计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73152" cy="60350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335024"/>
            <a:ext cx="402336" cy="402336"/>
          </a:xfrm>
          <a:prstGeom prst="ellipse">
            <a:avLst/>
          </a:prstGeom>
          <a:solidFill>
            <a:srgbClr val="FDF0F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2344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主标题大字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12344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字号拉满，在IM列表里不点开也能看清「限时内测福利」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82296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47672"/>
            <a:ext cx="73152" cy="60350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048256"/>
            <a:ext cx="402336" cy="402336"/>
          </a:xfrm>
          <a:prstGeom prst="ellipse">
            <a:avLst/>
          </a:prstGeom>
          <a:solidFill>
            <a:srgbClr val="FDF0F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19476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社交属性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194767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让分享者显得有品位/先知先觉：我拿到了内测资格，分享给你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60904"/>
            <a:ext cx="73152" cy="60350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FDF0F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266090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背书信任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63240" y="266090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领导/技术大咖头像与推荐语，降低新用户的决策门槛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374136"/>
            <a:ext cx="82296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74136"/>
            <a:ext cx="73152" cy="60350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02336" cy="402336"/>
          </a:xfrm>
          <a:prstGeom prst="ellipse">
            <a:avLst/>
          </a:prstGeom>
          <a:solidFill>
            <a:srgbClr val="FDF0F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37413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具体内容物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63240" y="337413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用具体语言罗列「能得到什么、解决什么问题」，不写空话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087368"/>
            <a:ext cx="82296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87368"/>
            <a:ext cx="73152" cy="60350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187952"/>
            <a:ext cx="402336" cy="402336"/>
          </a:xfrm>
          <a:prstGeom prst="ellipse">
            <a:avLst/>
          </a:prstGeom>
          <a:solidFill>
            <a:srgbClr val="FDF0F1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80160" y="408736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紧迫+短期利益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63240" y="40873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限量500个名额/活动仅7天，领了立刻能用，促进马上行动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7天执行节奏与每日动作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预热制造期待，启动集中引爆，冲刺限时加倍，收尾防流失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609344" cy="50292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 D-3~D-1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1609344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01168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内网公告+悬念海报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领导带头做首批分享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确认链接白名单/埋点自测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84832" y="1371600"/>
            <a:ext cx="1609344" cy="50292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13716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D1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84832" y="1874520"/>
            <a:ext cx="1609344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201168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全员推送活动落地页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种子用户（内测群）率先分享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实时监控漏斗首轮数据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03904" y="1371600"/>
            <a:ext cx="1609344" cy="50292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13716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爬坡 D2~D5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03904" y="1874520"/>
            <a:ext cx="1609344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3632" y="201168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每日战报+部门PK榜播报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「逆袭奖」激活尾部团队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根据数据微调话术/奖励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609344" cy="50292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0" name="Text 18"/>
          <p:cNvSpPr/>
          <p:nvPr/>
        </p:nvSpPr>
        <p:spPr>
          <a:xfrm>
            <a:off x="5522976" y="13716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 D6~D7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22976" y="1874520"/>
            <a:ext cx="1609344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32704" y="201168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倒计时提醒全员可见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限时加倍：奖励积分x2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榜单前3预告即将颁奖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42048" y="1371600"/>
            <a:ext cx="1609344" cy="50292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42048" y="13716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 D8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42048" y="1874520"/>
            <a:ext cx="1609344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51776" y="201168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颁奖公示+积分兑换开启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结束话术：感谢+预告下次</a:t>
            </a:r>
            <a:endParaRPr lang="en-US" sz="900" dirty="0"/>
          </a:p>
          <a:p>
            <a:pPr marL="101600" indent="-101600">
              <a:spcAft>
                <a:spcPts val="600"/>
              </a:spcAft>
              <a:buSzPct val="100000"/>
              <a:buChar char="▪"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复盘会：漏斗数据逐层分析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关键提醒：活动不超过7天——内网裂变热度衰减快于公网，节奏宜紧不宜松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防刷规则明细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参考815%案例的细节设计：宁严勿松，保证活动后数据真实可复盘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4164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4041648" cy="3657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同设备多账号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4023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设备指纹+工号双绑定，同设备只计1次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1280160"/>
            <a:ext cx="404164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280160"/>
            <a:ext cx="4041648" cy="3657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虚假点击刷量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4023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激活才计奖励，点击/下载不计入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404164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59152"/>
            <a:ext cx="4041648" cy="3657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自邀自奖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邀请人与被邀请人工号不可相同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2359152"/>
            <a:ext cx="404164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2359152"/>
            <a:ext cx="4041648" cy="3657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卸载薅完即走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4023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被邀请人卸载，扣除邀请人对应奖励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404164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38144"/>
            <a:ext cx="4041648" cy="3657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误伤恢复机制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4023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重装重新激活后，奖励自动恢复（借鉴取关-重扫逻辑）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3438144"/>
            <a:ext cx="404164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3438144"/>
            <a:ext cx="4041648" cy="3657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批量注册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18888" y="4023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新账号需内网域邮箱验证后方可计为有效邀请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兜底：设置活动总积分上限，超出部分转为荣誉榜公示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数据监控与成本核算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每个环节重度依赖数据（案例原话）：数据决策直接决定活动成败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转化漏斗目标值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29184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分享率  ≥35%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2788920" cy="457200"/>
          </a:xfrm>
          <a:prstGeom prst="rect">
            <a:avLst/>
          </a:prstGeom>
          <a:solidFill>
            <a:srgbClr val="C7000B">
              <a:alpha val="8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396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点击率  ≥60%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2286000" cy="457200"/>
          </a:xfrm>
          <a:prstGeom prst="rect">
            <a:avLst/>
          </a:prstGeom>
          <a:solidFill>
            <a:srgbClr val="C7000B">
              <a:alpha val="7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066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下载率  ≥50%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1783080" cy="457200"/>
          </a:xfrm>
          <a:prstGeom prst="rect">
            <a:avLst/>
          </a:prstGeom>
          <a:solidFill>
            <a:srgbClr val="C7000B">
              <a:alpha val="6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激活率  ≥80%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280160" cy="457200"/>
          </a:xfrm>
          <a:prstGeom prst="rect">
            <a:avLst/>
          </a:prstGeom>
          <a:solidFill>
            <a:srgbClr val="C7000B">
              <a:alpha val="5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40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二次裂变  ≥25%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成本核算（借鉴貓力案例算法）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572768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69164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单人权益成本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约15元（高级功能15天）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行业新增用户获客成本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10~20元/人，本活动1份权益换3个新增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结论：成本可控且划算，预算封顶后可放心放量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657600"/>
            <a:ext cx="3840480" cy="1051560"/>
          </a:xfrm>
          <a:prstGeom prst="rect">
            <a:avLst/>
          </a:prstGeom>
          <a:solidFill>
            <a:srgbClr val="FD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76732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每日看板四件套：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分享漏斗图 / Top10邀请达人 / 部门激活热力图 / 每日新增激活曲线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启动检查清单与参考来源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全部勾选后才允许上线；案例可点击校验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 Checklist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5453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[技术]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邀请关系链归因链路自测通过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9293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[技术]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埋点数据上报与看板正常出数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13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[技术]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即时反馈话术全流程触发验证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6974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[规则]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激活定义/防刷条款/积分上限公示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0815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[物料]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分享卡片按5要素设计完成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4655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[物料]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奖品备货与积分商城核对完毕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877056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8496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[协同]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IT白名单 + 法务审核 + 领导背书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261104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2336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[数据]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成本核算与预算封顶方案审批通过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参考案例来源（可校验）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6002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600200"/>
            <a:ext cx="64008" cy="9144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6733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裂变率高达815%后，这个公众号复盘了史上最全方法论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0" y="20574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人人都是产品经理 · 木公子 · 2019-05
</a:t>
            </a:r>
            <a:pPr indent="0" marL="0">
              <a:buNone/>
            </a:pPr>
            <a:r>
              <a:rPr lang="en-US" sz="85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woshipm.com/operate/2343401.html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2624328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624328"/>
            <a:ext cx="64008" cy="9144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6974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增长实操案例：用游戏化的邀请裂变新增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0" y="30815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人人都是产品经理 · 貓力 · 2019-03
</a:t>
            </a:r>
            <a:pPr indent="0" marL="0">
              <a:buNone/>
            </a:pPr>
            <a:r>
              <a:rPr lang="en-US" sz="85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woshipm.com/operate/2128100.html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648456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648456"/>
            <a:ext cx="64008" cy="9144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7216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产品经理，如何设计好「用户裂变」产品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0" y="41056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 · 产品妹纸Euphemia · 2024-09
</a:t>
            </a:r>
            <a:pPr indent="0" marL="0">
              <a:buNone/>
            </a:pPr>
            <a:r>
              <a:rPr lang="en-US" sz="85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xiaohongshu.com/explore/66ed8f1a000000002603051f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内网裂变核心洞察：信任成本极低、天花板明确——拼的是激活转化率，不是无限裂变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内网分享裂变活动落地执行方案</dc:title>
  <dc:subject>PptxGenJS Presentation</dc:subject>
  <dc:creator>yokim99</dc:creator>
  <cp:lastModifiedBy>yokim99</cp:lastModifiedBy>
  <cp:revision>1</cp:revision>
  <dcterms:created xsi:type="dcterms:W3CDTF">2026-09-11T06:26:09Z</dcterms:created>
  <dcterms:modified xsi:type="dcterms:W3CDTF">2026-09-11T06:26:09Z</dcterms:modified>
</cp:coreProperties>
</file>